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  <p15:guide id="17" pos="3341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6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5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1096" y="17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pos="3341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6/3/26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  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817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  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  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  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  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63" r:id="rId4"/>
    <p:sldLayoutId id="2147483661" r:id="rId5"/>
    <p:sldLayoutId id="2147483650" r:id="rId6"/>
    <p:sldLayoutId id="2147483666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8" r:id="rId13"/>
    <p:sldLayoutId id="2147483657" r:id="rId14"/>
    <p:sldLayoutId id="2147483664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  <p:sp>
        <p:nvSpPr>
          <p:cNvPr id="3" name="Факультет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Технологии искусственного интеллекта </a:t>
            </a:r>
          </a:p>
          <a:p>
            <a:r>
              <a:rPr lang="ru-RU" dirty="0"/>
              <a:t>и продвинутой аналитики</a:t>
            </a:r>
          </a:p>
        </p:txBody>
      </p:sp>
      <p:sp>
        <p:nvSpPr>
          <p:cNvPr id="6" name="Подзаголовок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[Доровских Софья Дмитриевна, Соловьева Амина</a:t>
            </a:r>
          </a:p>
          <a:p>
            <a:r>
              <a:rPr lang="ru-RU" dirty="0"/>
              <a:t> МБАВК251С</a:t>
            </a:r>
          </a:p>
        </p:txBody>
      </p:sp>
      <p:sp>
        <p:nvSpPr>
          <p:cNvPr id="5" name="Дата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Санкт-Петербург,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Бизнес-задача и её ML-формулировка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b="1"/>
              <a:t>Что предсказываем: </a:t>
            </a:r>
            <a:r>
              <a:rPr lang="ru-RU"/>
              <a:t>отменит ли гость бронь отеля (да / нет).</a:t>
            </a:r>
          </a:p>
          <a:p>
            <a:r>
              <a:rPr lang="ru-RU" b="1"/>
              <a:t>Зачем бизнесу: </a:t>
            </a:r>
            <a:r>
              <a:rPr lang="ru-RU"/>
              <a:t>отмены в последний момент оставляют номер пустым и ведут к упущенной выручке; ранний прогноз помогает управлять овербукингом и депозитами.</a:t>
            </a:r>
          </a:p>
          <a:p>
            <a:r>
              <a:rPr lang="ru-RU" b="1"/>
              <a:t>Тип задачи: </a:t>
            </a:r>
            <a:r>
              <a:rPr lang="ru-RU"/>
              <a:t>бинарная классификация.</a:t>
            </a:r>
          </a:p>
          <a:p>
            <a:r>
              <a:rPr lang="ru-RU" b="1"/>
              <a:t>Целевая метрика: </a:t>
            </a:r>
            <a:r>
              <a:rPr lang="ru-RU"/>
              <a:t>F1-score. Классы несбалансированы (37% отмен), поэтому Accuracy обманчива, а F1 балансирует precision и recall.</a:t>
            </a:r>
          </a:p>
        </p:txBody>
      </p:sp>
      <p:sp>
        <p:nvSpPr>
          <p:cNvPr id="4" name="Колонтитул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Данные и разведочный анализ (EDA)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b="1"/>
              <a:t>Источник: </a:t>
            </a:r>
            <a:r>
              <a:rPr lang="ru-RU"/>
              <a:t>Kaggle, Hotel Booking Demand — 119 390 броней, 32 признака (табличные данные).</a:t>
            </a:r>
          </a:p>
          <a:p>
            <a:r>
              <a:rPr lang="ru-RU" b="1"/>
              <a:t>Целевая переменная: </a:t>
            </a:r>
            <a:r>
              <a:rPr lang="ru-RU"/>
              <a:t>is_canceled — 37% отмен / 63% заездов (умеренный дисбаланс).</a:t>
            </a:r>
          </a:p>
          <a:p>
            <a:r>
              <a:rPr lang="ru-RU" b="1"/>
              <a:t>Пропуски и выбросы: </a:t>
            </a:r>
            <a:r>
              <a:rPr lang="ru-RU"/>
              <a:t>удалены колонка company (94% пустых) и битые строки (нулевые гости, отрицательная цена).</a:t>
            </a:r>
          </a:p>
          <a:p>
            <a:r>
              <a:rPr lang="ru-RU" b="1"/>
              <a:t>Ключевые инсайты: </a:t>
            </a:r>
            <a:r>
              <a:rPr lang="ru-RU"/>
              <a:t>депозит Non Refund отменяют почти в 100% случаев; городской отель чаще курортного (42% против 28%); чем больше срок до заезда, тем выше отмена.</a:t>
            </a:r>
          </a:p>
        </p:txBody>
      </p:sp>
      <p:sp>
        <p:nvSpPr>
          <p:cNvPr id="4" name="Колонтитул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Подготовка данных (Feature Engineering)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b="1"/>
              <a:t>Пропуски: </a:t>
            </a:r>
            <a:r>
              <a:rPr lang="ru-RU"/>
              <a:t>числовые — медиана; категориальные — категория Unknown; company удалена.</a:t>
            </a:r>
          </a:p>
          <a:p>
            <a:r>
              <a:rPr lang="ru-RU" b="1"/>
              <a:t>Кодирование категорий: </a:t>
            </a:r>
            <a:r>
              <a:rPr lang="ru-RU"/>
              <a:t>One-Hot; редкие страны (из 177) объединены в общий бакет, чтобы не плодить колонки.</a:t>
            </a:r>
          </a:p>
          <a:p>
            <a:r>
              <a:rPr lang="ru-RU" b="1"/>
              <a:t>Масштабирование: </a:t>
            </a:r>
            <a:r>
              <a:rPr lang="ru-RU"/>
              <a:t>StandardScaler — нужно логистической регрессии, деревьям не мешает.</a:t>
            </a:r>
          </a:p>
          <a:p>
            <a:r>
              <a:rPr lang="ru-RU" b="1"/>
              <a:t>Новые признаки и защита от утечки: </a:t>
            </a:r>
            <a:r>
              <a:rPr lang="ru-RU"/>
              <a:t>флаг agent_known; удалены reservation_status и reservation_status_date, напрямую раскрывающие ответ.</a:t>
            </a:r>
          </a:p>
          <a:p>
            <a:r>
              <a:rPr lang="ru-RU" b="1"/>
              <a:t>Разбиение: </a:t>
            </a:r>
            <a:r>
              <a:rPr lang="ru-RU"/>
              <a:t>train 80% / test 20% со стратификацией; предобработка обучается только на train.</a:t>
            </a:r>
          </a:p>
        </p:txBody>
      </p:sp>
      <p:sp>
        <p:nvSpPr>
          <p:cNvPr id="4" name="Колонтитул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Модели и метрики</a:t>
            </a:r>
          </a:p>
        </p:txBody>
      </p:sp>
      <p:graphicFrame>
        <p:nvGraphicFramePr>
          <p:cNvPr id="20" name="Таблица моделей"/>
          <p:cNvGraphicFramePr>
            <a:graphicFrameLocks noGrp="1"/>
          </p:cNvGraphicFramePr>
          <p:nvPr/>
        </p:nvGraphicFramePr>
        <p:xfrm>
          <a:off x="585897" y="2379663"/>
          <a:ext cx="80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Модель</a:t>
                      </a:r>
                    </a:p>
                  </a:txBody>
                  <a:tcPr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F1 (тест)</a:t>
                      </a:r>
                    </a:p>
                  </a:txBody>
                  <a:tcPr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Время обуч.</a:t>
                      </a:r>
                    </a:p>
                  </a:txBody>
                  <a:tcPr>
                    <a:solidFill>
                      <a:srgbClr val="0F2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ru-RU" sz="1300"/>
                        <a:t>Baseline (всегда «не отменится»)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ru-RU" sz="13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5 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ru-RU" sz="130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3 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ru-RU" sz="130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9 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ru-RU" sz="1300" b="1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/>
                        <a:t>31 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Подпись"/>
          <p:cNvSpPr/>
          <p:nvPr/>
        </p:nvSpPr>
        <p:spPr>
          <a:xfrm>
            <a:off x="585897" y="5050000"/>
            <a:ext cx="8000000" cy="500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1100" i="1">
                <a:solidFill>
                  <a:srgbClr val="595959"/>
                </a:solidFill>
              </a:rPr>
              <a:t>F1 — на отложенном тесте; качество подтверждено 5-fold кросс-валидацией. Лучшая модель — Random Forest.</a:t>
            </a:r>
          </a:p>
        </p:txBody>
      </p:sp>
      <p:sp>
        <p:nvSpPr>
          <p:cNvPr id="3" name="Колонтитул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Анализ результатов и интерпретация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b="1"/>
              <a:t>Лучшая модель: </a:t>
            </a:r>
            <a:r>
              <a:rPr lang="ru-RU"/>
              <a:t>Random Forest (F1 0.85, Accuracy 0.89). F1 на кросс-валидации и на тесте совпадают — переобучения нет.</a:t>
            </a:r>
          </a:p>
          <a:p>
            <a:r>
              <a:rPr lang="ru-RU" b="1"/>
              <a:t>Гипотеза EDA подтвердилась: </a:t>
            </a:r>
            <a:r>
              <a:rPr lang="ru-RU"/>
              <a:t>связи нелинейные, поэтому ансамбли деревьев заметно обогнали логистическую регрессию.</a:t>
            </a:r>
          </a:p>
          <a:p>
            <a:r>
              <a:rPr lang="ru-RU" b="1"/>
              <a:t>Важность признаков: </a:t>
            </a:r>
            <a:r>
              <a:rPr lang="ru-RU"/>
              <a:t>срок до заезда, цена за ночь, страна гостя, тип депозита, число спецзапросов.</a:t>
            </a:r>
          </a:p>
          <a:p>
            <a:r>
              <a:rPr lang="ru-RU" b="1"/>
              <a:t>Анализ ошибок: </a:t>
            </a:r>
            <a:r>
              <a:rPr lang="ru-RU"/>
              <a:t>recall по отменам 0.81; самый дорогой промах — пропущенные отмены (упущенная выручка).</a:t>
            </a:r>
          </a:p>
        </p:txBody>
      </p:sp>
      <p:sp>
        <p:nvSpPr>
          <p:cNvPr id="4" name="Колонтитул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Жизненный цикл модели (MLOps)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b="1"/>
              <a:t>Сохранение: </a:t>
            </a:r>
            <a:r>
              <a:rPr lang="ru-RU"/>
              <a:t>весь pipeline (предобработка + модель) сохранён через joblib в best_model.pkl (со сжатием).</a:t>
            </a:r>
          </a:p>
          <a:p>
            <a:r>
              <a:rPr lang="ru-RU" b="1"/>
              <a:t>Инференс: </a:t>
            </a:r>
            <a:r>
              <a:rPr lang="ru-RU"/>
              <a:t>на новых «сырых» данных прогноз работает сразу — предобработка зашита внутри pipeline.</a:t>
            </a:r>
          </a:p>
          <a:p>
            <a:r>
              <a:rPr lang="ru-RU" b="1"/>
              <a:t>Воспроизводимость: </a:t>
            </a:r>
            <a:r>
              <a:rPr lang="ru-RU"/>
              <a:t>фиксированный random_state, данные тянутся через kagglehub, версии библиотек — в requirements.txt.</a:t>
            </a:r>
          </a:p>
          <a:p>
            <a:r>
              <a:rPr lang="ru-RU" b="1"/>
              <a:t>Дрифт данных: </a:t>
            </a:r>
            <a:r>
              <a:rPr lang="ru-RU"/>
              <a:t>со временем поведение гостей меняется (сезоны, цены), поэтому нужен мониторинг качества и переобучение по расписанию.</a:t>
            </a:r>
          </a:p>
        </p:txBody>
      </p:sp>
      <p:sp>
        <p:nvSpPr>
          <p:cNvPr id="4" name="Колонтитул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Выводы и направления развития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b="1"/>
              <a:t>Итог: </a:t>
            </a:r>
            <a:r>
              <a:rPr lang="ru-RU"/>
              <a:t>построена рабочая модель, предсказывающая отмены с F1 0.85; ключевые драйверы понятны и объяснимы.</a:t>
            </a:r>
          </a:p>
          <a:p>
            <a:r>
              <a:rPr lang="ru-RU" b="1"/>
              <a:t>Можно ли внедрить: </a:t>
            </a:r>
            <a:r>
              <a:rPr lang="ru-RU"/>
              <a:t>да — как скоринг риска брони для отдела бронирования.</a:t>
            </a:r>
          </a:p>
          <a:p>
            <a:r>
              <a:rPr lang="ru-RU" b="1"/>
              <a:t>Что улучшить: </a:t>
            </a:r>
            <a:r>
              <a:rPr lang="ru-RU"/>
              <a:t>настройка порога под recall; SHAP для интерпретации; календарные признаки; онлайн-дообучение.</a:t>
            </a:r>
          </a:p>
        </p:txBody>
      </p:sp>
      <p:sp>
        <p:nvSpPr>
          <p:cNvPr id="4" name="Колонтитул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Прогнозирование отмены бронирований отеля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073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6afe77-3acb-4328-97fc-408e1bde3ecd" xsi:nil="true"/>
    <lcf76f155ced4ddcb4097134ff3c332f xmlns="9875bd71-cde8-496c-a136-433f55d5e6d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8" ma:contentTypeDescription="Создание документа." ma:contentTypeScope="" ma:versionID="1a5cfb238914476ded5970f92b127504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0adbc20d4fbdbe3247a279c1a10fa71b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a06070-6ad6-44db-a3bf-0d2f4389ef2b}" ma:internalName="TaxCatchAll" ma:showField="CatchAllData" ma:web="e96afe77-3acb-4328-97fc-408e1bde3e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e96afe77-3acb-4328-97fc-408e1bde3ecd"/>
    <ds:schemaRef ds:uri="http://schemas.openxmlformats.org/package/2006/metadata/core-properties"/>
    <ds:schemaRef ds:uri="9875bd71-cde8-496c-a136-433f55d5e6d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828536A-18C6-49CF-8D1D-F6AA6C1DA5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599</Words>
  <Application>Microsoft Macintosh PowerPoint</Application>
  <PresentationFormat>Широкоэкранный</PresentationFormat>
  <Paragraphs>69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HSE Sans</vt:lpstr>
      <vt:lpstr>Office Theme</vt:lpstr>
      <vt:lpstr>Прогнозирование отмены бронирований отеля</vt:lpstr>
      <vt:lpstr>Бизнес-задача и её ML-формулировка</vt:lpstr>
      <vt:lpstr>Данные и разведочный анализ (EDA)</vt:lpstr>
      <vt:lpstr>Подготовка данных (Feature Engineering)</vt:lpstr>
      <vt:lpstr>Модели и метрики</vt:lpstr>
      <vt:lpstr>Анализ результатов и интерпретация</vt:lpstr>
      <vt:lpstr>Жизненный цикл модели (MLOps)</vt:lpstr>
      <vt:lpstr>Выводы и направления развития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Софья Доровских</cp:lastModifiedBy>
  <cp:revision>19</cp:revision>
  <cp:lastPrinted>2021-11-11T13:08:42Z</cp:lastPrinted>
  <dcterms:created xsi:type="dcterms:W3CDTF">2021-11-11T08:52:47Z</dcterms:created>
  <dcterms:modified xsi:type="dcterms:W3CDTF">2026-06-03T20:45:48Z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MediaServiceImageTags">
    <vt:lpwstr/>
  </property>
</Properties>
</file>